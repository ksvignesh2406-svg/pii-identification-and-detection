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2B5C"/>
                </a:solidFill>
              </a:defRPr>
            </a:pPr>
            <a:r>
              <a:t>Cadence Financial Services</a:t>
            </a:r>
          </a:p>
          <a:p>
            <a:pPr>
              <a:defRPr sz="2000">
                <a:solidFill>
                  <a:srgbClr val="DC5028"/>
                </a:solidFill>
              </a:defRPr>
            </a:pPr>
            <a:r>
              <a:t>[PERSON_1] Worth Client Portfolio &amp; KYC Due Diligence Review</a:t>
            </a:r>
          </a:p>
          <a:p>
            <a:pPr>
              <a:defRPr sz="1300" i="1"/>
            </a:pPr>
            <a:r>
              <a:t>Author: [PERSON_2] ([EMPLOYEE_ID_1]) | Division: Private Wealth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Client Portfolios &amp; Identity Verification Records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7680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502920">
                <a:tc>
                  <a:txBody>
                    <a:bodyPr/>
                    <a:lstStyle/>
                    <a:p>
                      <a:r>
                        <a:rPr b="1" sz="1200"/>
                        <a:t>Client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Tax ID / 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Account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[LOCATION_1]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Phone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/>
                        <a:t>[PERSON_3]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[US_SSN_1]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ACCT-[BANK_ACCOUNT_1]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[EMAIL_ADDRESS_1]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[PHONE_NUMBER_1]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/>
                        <a:t>[PERSON_4]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[US_SSN_2]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ACCT-[BANK_ACCOUNT_2]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[EMAIL_ADDRESS_2]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[PHONE_NUMBER_2]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/>
                        <a:t>[PERSON_5]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[US_SSN_3]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ACCT-[BANK_ACCOUNT_3]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[EMAIL_ADDRESS_3]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[PHONE_NUMBER_3]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2B5C"/>
                </a:solidFill>
              </a:defRPr>
            </a:pPr>
            <a:r>
              <a:t>CONFIDENTIAL: Wire Instructions &amp; Settlement Officer Notes</a:t>
            </a:r>
          </a:p>
          <a:p>
            <a:r>
              <a:rPr b="1" sz="1300"/>
              <a:t>[PERSON_6]: </a:t>
            </a:r>
            <a:r>
              <a:rPr sz="1300"/>
              <a:t>[PERSON_7] (Cadence Escrow Services)</a:t>
            </a:r>
          </a:p>
          <a:p>
            <a:r>
              <a:rPr b="1" sz="1300"/>
              <a:t>Officer [LOCATION_1]: </a:t>
            </a:r>
            <a:r>
              <a:rPr sz="1300"/>
              <a:t>[EMAIL_ADDRESS_4] | Direct: [PHONE_NUMBER_4]</a:t>
            </a:r>
          </a:p>
          <a:p>
            <a:r>
              <a:rPr b="1" sz="1300"/>
              <a:t>Beneficiary Address: </a:t>
            </a:r>
            <a:r>
              <a:rPr sz="1300"/>
              <a:t>[STREET_ADDRESS_1], 18th [PERSON_8], [LOCATION_2], NY 10017</a:t>
            </a:r>
          </a:p>
          <a:p>
            <a:r>
              <a:rPr b="1" sz="1300"/>
              <a:t>Bank Routing Number (ABA): </a:t>
            </a:r>
            <a:r>
              <a:rPr sz="1300"/>
              <a:t>[PHONE_NUMBER_5] (JPMorgan Chase NY)</a:t>
            </a:r>
          </a:p>
          <a:p>
            <a:r>
              <a:rPr b="1" sz="1300"/>
              <a:t>Cadence Settlement Account: </a:t>
            </a:r>
            <a:r>
              <a:rPr sz="1300"/>
              <a:t>[BANK_ACCOUNT_4]</a:t>
            </a:r>
          </a:p>
          <a:p>
            <a:r>
              <a:rPr b="1" sz="1300"/>
              <a:t>SWIFT / BIC: </a:t>
            </a:r>
            <a:r>
              <a:rPr sz="1300"/>
              <a:t>[SWIFT_BIC_1]</a:t>
            </a:r>
          </a:p>
          <a:p>
            <a:r>
              <a:rPr b="1" sz="1300"/>
              <a:t>Note: </a:t>
            </a:r>
            <a:r>
              <a:rPr sz="1300"/>
              <a:t>Customer SSN [US_SSN_4] confirmed against NY State [PERSON_9] # [US_DRIVER_LICENSE_1]. Do not share raw identifiers across unencrypted channels.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