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2B5C"/>
                </a:solidFill>
              </a:defRPr>
            </a:pPr>
            <a:r>
              <a:t>Cadence Financial Services</a:t>
            </a:r>
          </a:p>
          <a:p>
            <a:pPr>
              <a:defRPr sz="2000">
                <a:solidFill>
                  <a:srgbClr val="DC5028"/>
                </a:solidFill>
              </a:defRPr>
            </a:pPr>
            <a:r>
              <a:t>Q3 High Net Worth Client Portfolio &amp; KYC Due Diligence Review</a:t>
            </a:r>
          </a:p>
          <a:p>
            <a:pPr>
              <a:defRPr sz="1300" i="1"/>
            </a:pPr>
            <a:r>
              <a:t>Author: Marcus Sterling (EMP-88392) | Division: Private Wealth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Client Portfolios &amp; Identity Verification Records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/>
                        <a:t>Client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Tax ID / 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Account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Contact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Phone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Eleanor 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142-88-9031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ACCT-902148291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eleanor.vance@vancetech.com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 (212) 555-0194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David K. Richardson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873-12-4490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ACCT-449182304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drichardson@richardsoncap.com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 (646) 555-8821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Sarah Jenkins-Wu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309-54-1182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ACCT-773829105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sarah.j.wu@apexglobal.net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+1 (917) 555-3419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B5C"/>
                </a:solidFill>
              </a:defRPr>
            </a:pPr>
            <a:r>
              <a:t>CONFIDENTIAL: Wire Instructions &amp; Settlement Officer Notes</a:t>
            </a:r>
          </a:p>
          <a:p>
            <a:r>
              <a:rPr b="1" sz="1300"/>
              <a:t>Beneficiary Name: </a:t>
            </a:r>
            <a:r>
              <a:rPr sz="1300"/>
              <a:t>Jonathan Hayes (Cadence Escrow Services)</a:t>
            </a:r>
          </a:p>
          <a:p>
            <a:r>
              <a:rPr b="1" sz="1300"/>
              <a:t>Officer Contact: </a:t>
            </a:r>
            <a:r>
              <a:rPr sz="1300"/>
              <a:t>jonathan.hayes@cadence-corp.com | Direct: +1 (212) 555-7733</a:t>
            </a:r>
          </a:p>
          <a:p>
            <a:r>
              <a:rPr b="1" sz="1300"/>
              <a:t>Beneficiary Address: </a:t>
            </a:r>
            <a:r>
              <a:rPr sz="1300"/>
              <a:t>380 Madison Avenue, 18th Floor, New York, NY 10017</a:t>
            </a:r>
          </a:p>
          <a:p>
            <a:r>
              <a:rPr b="1" sz="1300"/>
              <a:t>Bank Routing Number (ABA): </a:t>
            </a:r>
            <a:r>
              <a:rPr sz="1300"/>
              <a:t>021000021 (JPMorgan Chase NY)</a:t>
            </a:r>
          </a:p>
          <a:p>
            <a:r>
              <a:rPr b="1" sz="1300"/>
              <a:t>Cadence Settlement Account: </a:t>
            </a:r>
            <a:r>
              <a:rPr sz="1300"/>
              <a:t>883920194012</a:t>
            </a:r>
          </a:p>
          <a:p>
            <a:r>
              <a:rPr b="1" sz="1300"/>
              <a:t>SWIFT / BIC: </a:t>
            </a:r>
            <a:r>
              <a:rPr sz="1300"/>
              <a:t>CHASUS33XXX</a:t>
            </a:r>
          </a:p>
          <a:p>
            <a:r>
              <a:rPr b="1" sz="1300"/>
              <a:t>Note: </a:t>
            </a:r>
            <a:r>
              <a:rPr sz="1300"/>
              <a:t>Customer SSN 982-11-4092 confirmed against NY State Driver License # NY-7749201. Do not share raw identifiers across unencrypted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